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lus Jakarta Sans ExtraBold"/>
      <p:bold r:id="rId12"/>
      <p:boldItalic r:id="rId13"/>
    </p:embeddedFont>
    <p:embeddedFont>
      <p:font typeface="Plus Jakarta Sans"/>
      <p:regular r:id="rId14"/>
      <p:bold r:id="rId15"/>
      <p:italic r:id="rId16"/>
      <p:boldItalic r:id="rId17"/>
    </p:embeddedFont>
    <p:embeddedFont>
      <p:font typeface="Fira Code SemiBold"/>
      <p:regular r:id="rId18"/>
      <p:bold r:id="rId19"/>
    </p:embeddedFont>
    <p:embeddedFont>
      <p:font typeface="Fira Code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Cod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FiraCode-bold.fntdata"/><Relationship Id="rId13" Type="http://schemas.openxmlformats.org/officeDocument/2006/relationships/font" Target="fonts/PlusJakartaSansExtraBold-boldItalic.fntdata"/><Relationship Id="rId12" Type="http://schemas.openxmlformats.org/officeDocument/2006/relationships/font" Target="fonts/PlusJakartaSans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bold.fntdata"/><Relationship Id="rId14" Type="http://schemas.openxmlformats.org/officeDocument/2006/relationships/font" Target="fonts/PlusJakartaSans-regular.fntdata"/><Relationship Id="rId17" Type="http://schemas.openxmlformats.org/officeDocument/2006/relationships/font" Target="fonts/PlusJakartaSans-boldItalic.fntdata"/><Relationship Id="rId16" Type="http://schemas.openxmlformats.org/officeDocument/2006/relationships/font" Target="fonts/PlusJakartaSans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FiraCodeSemiBold-bold.fntdata"/><Relationship Id="rId6" Type="http://schemas.openxmlformats.org/officeDocument/2006/relationships/slide" Target="slides/slide1.xml"/><Relationship Id="rId18" Type="http://schemas.openxmlformats.org/officeDocument/2006/relationships/font" Target="fonts/FiraCode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0" Type="http://schemas.openxmlformats.org/officeDocument/2006/relationships/image" Target="../media/image6.png"/><Relationship Id="rId9" Type="http://schemas.openxmlformats.org/officeDocument/2006/relationships/image" Target="../media/image2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11" Type="http://schemas.openxmlformats.org/officeDocument/2006/relationships/image" Target="../media/image11.png"/><Relationship Id="rId10" Type="http://schemas.openxmlformats.org/officeDocument/2006/relationships/image" Target="../media/image14.png"/><Relationship Id="rId12" Type="http://schemas.openxmlformats.org/officeDocument/2006/relationships/image" Target="../media/image16.png"/><Relationship Id="rId9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31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10" Type="http://schemas.openxmlformats.org/officeDocument/2006/relationships/image" Target="../media/image17.png"/><Relationship Id="rId9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Relationship Id="rId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Relationship Id="rId11" Type="http://schemas.openxmlformats.org/officeDocument/2006/relationships/image" Target="../media/image32.png"/><Relationship Id="rId10" Type="http://schemas.openxmlformats.org/officeDocument/2006/relationships/image" Target="../media/image28.png"/><Relationship Id="rId12" Type="http://schemas.openxmlformats.org/officeDocument/2006/relationships/image" Target="../media/image34.png"/><Relationship Id="rId9" Type="http://schemas.openxmlformats.org/officeDocument/2006/relationships/image" Target="../media/image35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9" Type="http://schemas.openxmlformats.org/officeDocument/2006/relationships/image" Target="../media/image45.png"/><Relationship Id="rId5" Type="http://schemas.openxmlformats.org/officeDocument/2006/relationships/image" Target="../media/image44.png"/><Relationship Id="rId6" Type="http://schemas.openxmlformats.org/officeDocument/2006/relationships/image" Target="../media/image39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0.png"/><Relationship Id="rId7" Type="http://schemas.openxmlformats.org/officeDocument/2006/relationships/image" Target="../media/image43.png"/><Relationship Id="rId8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3896" y="2066478"/>
            <a:ext cx="2704207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9925" y="4410521"/>
            <a:ext cx="1571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72050" y="4410521"/>
            <a:ext cx="23622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0" y="4410521"/>
            <a:ext cx="14573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2286305" y="2637978"/>
            <a:ext cx="7619389" cy="591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Conexión Automatizada a GEE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190750" y="3419921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Aprende a autenticar automáticamente tu entorno de Google Colab mediante Service Accounts y almacenamiento seguro en Google Drive.</a:t>
            </a:r>
            <a:endParaRPr/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09950" y="4534346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72075" y="453434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24775" y="4534346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5562"/>
            <a:ext cx="261937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1375" y="2595562"/>
            <a:ext cx="261937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595562"/>
            <a:ext cx="261937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1125" y="2595562"/>
            <a:ext cx="261937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38162"/>
            <a:ext cx="33605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2686050" y="2795587"/>
            <a:ext cx="304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01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0575" y="2871787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90575" y="3557587"/>
            <a:ext cx="1327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Configurar IAM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90575" y="3900487"/>
            <a:ext cx="218122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Crear la Service Account en Google Cloud Console con roles de visor, escritor y consumidor de cuota.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48300" y="2795587"/>
            <a:ext cx="3524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02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00450" y="2871787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3600450" y="3557587"/>
            <a:ext cx="14694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Guardar en Drive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3600450" y="3900487"/>
            <a:ext cx="21812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Almacenar la clave privada JSON descargada dentro de una carpeta protegida en Google Drive.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258175" y="2795587"/>
            <a:ext cx="3524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03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0325" y="2871787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6410325" y="3557587"/>
            <a:ext cx="14533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Montar en Colab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410325" y="3900487"/>
            <a:ext cx="21812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Conectar Google Drive al entorno virtual de Colab para permitir lectura silenciosa de credenciales.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1049000" y="2795587"/>
            <a:ext cx="371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04</a:t>
            </a:r>
            <a:endParaRPr/>
          </a:p>
        </p:txBody>
      </p:sp>
      <p:pic>
        <p:nvPicPr>
          <p:cNvPr descr="image.png" id="117" name="Google Shape;11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20200" y="2871787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9220200" y="3557587"/>
            <a:ext cx="114326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Inicializar API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9220200" y="3900487"/>
            <a:ext cx="2181225" cy="604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Ejecutar de manera 100% automatizada en cada sesión.</a:t>
            </a:r>
            <a:endParaRPr/>
          </a:p>
        </p:txBody>
      </p:sp>
      <p:pic>
        <p:nvPicPr>
          <p:cNvPr descr="image.png" id="120" name="Google Shape;12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4875" y="3014662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14750" y="3014662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38912" y="3014662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363075" y="301466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63125" y="3890962"/>
            <a:ext cx="11620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/>
          <p:nvPr/>
        </p:nvSpPr>
        <p:spPr>
          <a:xfrm>
            <a:off x="1021853" y="476250"/>
            <a:ext cx="1112857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Flujo de Trabajo Integrado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76475"/>
            <a:ext cx="1104900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33750"/>
            <a:ext cx="1104900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91025"/>
            <a:ext cx="1104900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38162"/>
            <a:ext cx="29795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1101476" y="2476500"/>
            <a:ext cx="1079494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Earth Engine Resource Viewer (Beta)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38200" y="2752725"/>
            <a:ext cx="10544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Proporciona acceso de lectura a todas las colecciones globales y públicas de datos espaciales (Landsat, Sentinel, SRTM, etc.).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082426" y="3533775"/>
            <a:ext cx="1081494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Earth Engine Resource Writer (Beta)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38200" y="3810000"/>
            <a:ext cx="10544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Permite exportar resultados, generar tareas de procesamiento y guardar nuevos assets directamente en tu repositorio del proyecto.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101476" y="4591050"/>
            <a:ext cx="1079494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Usage Consumer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38200" y="4867275"/>
            <a:ext cx="10544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Habilita el consumo de cuota de computación del proyecto asignado en Google Cloud Platform sin restricciones de usuario individual.</a:t>
            </a:r>
            <a:endParaRPr/>
          </a:p>
        </p:txBody>
      </p:sp>
      <p:pic>
        <p:nvPicPr>
          <p:cNvPr descr="image.png" id="141" name="Google Shape;14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200" y="2509837"/>
            <a:ext cx="16802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8200" y="3567112"/>
            <a:ext cx="14897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8200" y="4624387"/>
            <a:ext cx="168026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983753" y="476250"/>
            <a:ext cx="11168583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Permisos Requeridos en IAM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85937"/>
            <a:ext cx="53340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74689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39504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596729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38162"/>
            <a:ext cx="29795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96025" y="1795462"/>
            <a:ext cx="5314950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2475" y="484629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1057275" y="4728269"/>
            <a:ext cx="46672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CD34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Nota de Seguridad:</a:t>
            </a:r>
            <a:r>
              <a:rPr b="0" i="0" lang="en-US" sz="1050" u="none" cap="none" strike="noStrike">
                <a:solidFill>
                  <a:srgbClr val="FCD34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Mantén esta carpeta estrictamente privada y no la compartas en repositorios públicos.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1085850" y="2274689"/>
            <a:ext cx="43505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Crear carpeta dedicada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085850" y="2531864"/>
            <a:ext cx="4143375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 una carpeta en la raíz de Drive, por ejemplo: 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1085850" y="2939504"/>
            <a:ext cx="48506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Subir la clave privada JSON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1085850" y="3196679"/>
            <a:ext cx="4619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Sube el archivo descargado desde GCP IAM a esta carpeta privada.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1085850" y="3596729"/>
            <a:ext cx="386048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Verificar la ruta resultante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1085850" y="3853904"/>
            <a:ext cx="3676650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Google Colab, la ruta de acceso al archivo será: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descr="image.png" id="164" name="Google Shape;164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10075" y="2541389"/>
            <a:ext cx="7810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85850" y="4092029"/>
            <a:ext cx="36766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/>
        </p:nvSpPr>
        <p:spPr>
          <a:xfrm>
            <a:off x="983753" y="476250"/>
            <a:ext cx="11168583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Preparación en Google Drive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44005"/>
            <a:ext cx="53340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53680"/>
            <a:ext cx="5334000" cy="10648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70945"/>
            <a:ext cx="53340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38162"/>
            <a:ext cx="37415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6486525" y="2740521"/>
            <a:ext cx="457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472B6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import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7248525" y="2740521"/>
            <a:ext cx="457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472B6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import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8010525" y="2740521"/>
            <a:ext cx="304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472B6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from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382125" y="2740521"/>
            <a:ext cx="457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472B6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import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7934325" y="2932360"/>
            <a:ext cx="381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mount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8391525" y="2932360"/>
            <a:ext cx="1219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'/content/drive'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8239125" y="3124200"/>
            <a:ext cx="609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SA_EMAIL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486525" y="3124200"/>
            <a:ext cx="42672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"service-ee-cydata@ee-cydata.iam.gserviceaccount.com"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8924925" y="3316039"/>
            <a:ext cx="685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JSON_PATH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6486525" y="3507878"/>
            <a:ext cx="3962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3. Autenticación e Inicialización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7629525" y="3699718"/>
            <a:ext cx="152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472B6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if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9001125" y="3699718"/>
            <a:ext cx="685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JSON_PATH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9915525" y="3699718"/>
            <a:ext cx="228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472B6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try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6715125" y="3891557"/>
            <a:ext cx="1905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ServiceAccountCredentials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10448925" y="3891557"/>
            <a:ext cx="609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SA_EMAIL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7172325" y="4083397"/>
            <a:ext cx="685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JSON_PATH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6486525" y="4275236"/>
            <a:ext cx="381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print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6943725" y="4275236"/>
            <a:ext cx="2590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"✅ GEE autenticado exitosamente."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10982325" y="4275236"/>
            <a:ext cx="152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472B6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as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6486525" y="4467076"/>
            <a:ext cx="381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print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6943725" y="4467076"/>
            <a:ext cx="2362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f"❌ Error al inicializar: {e}"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9458325" y="4467076"/>
            <a:ext cx="304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472B6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else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9915525" y="4467076"/>
            <a:ext cx="381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print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762000" y="2205930"/>
            <a:ext cx="5230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Montaje Directo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762000" y="2482155"/>
            <a:ext cx="498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 conecta la unidad personal de Google Drive en la máquina virtual de Colab.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762000" y="3415605"/>
            <a:ext cx="5230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Credenciales de Servicio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762000" y="3691830"/>
            <a:ext cx="49815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Instancia usando el correo de la cuenta y el archivo JSON.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762000" y="4632870"/>
            <a:ext cx="5230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Validación de Seguridad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762000" y="4909095"/>
            <a:ext cx="498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Verifica la existencia física del archivo antes de iniciar para prevenir fallos silenciosos.</a:t>
            </a:r>
            <a:endParaRPr/>
          </a:p>
        </p:txBody>
      </p:sp>
      <p:pic>
        <p:nvPicPr>
          <p:cNvPr descr="image.png" id="205" name="Google Shape;20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19225" y="3701355"/>
            <a:ext cx="23050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 txBox="1"/>
          <p:nvPr/>
        </p:nvSpPr>
        <p:spPr>
          <a:xfrm>
            <a:off x="1059953" y="476250"/>
            <a:ext cx="11088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Código de Implementación</a:t>
            </a:r>
            <a:endParaRPr/>
          </a:p>
        </p:txBody>
      </p:sp>
      <p:pic>
        <p:nvPicPr>
          <p:cNvPr id="207" name="Google Shape;207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25863" y="2220038"/>
            <a:ext cx="5750523" cy="292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72531"/>
            <a:ext cx="5334000" cy="975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76700"/>
            <a:ext cx="533400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38162"/>
            <a:ext cx="29795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/>
        </p:nvSpPr>
        <p:spPr>
          <a:xfrm>
            <a:off x="571500" y="2133451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Una vez ejecutado el bloque de inicialización, la API queda 100% activa para consultas espaciales sin requerir interacción manual.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771525" y="3082081"/>
            <a:ext cx="3124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Prueba rápida de conectividad y lectura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1000125" y="3273921"/>
            <a:ext cx="381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Image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1457325" y="3273921"/>
            <a:ext cx="1371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'USGS/SRTMGL1_003'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4657725" y="3273921"/>
            <a:ext cx="533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getInfo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847725" y="3465760"/>
            <a:ext cx="304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'id'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1304925" y="3465760"/>
            <a:ext cx="381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print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1762125" y="3465760"/>
            <a:ext cx="2590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"Conexión Exitosa. ID verificado:"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1082426" y="4276725"/>
            <a:ext cx="481419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Entorno Listo para Producción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838200" y="4552950"/>
            <a:ext cx="48291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Ahora puedes ejecutar pipelines analíticos continuos, descargas batch y mapas interactivos desde Colab sin preocuparte por tokens expirados.</a:t>
            </a:r>
            <a:endParaRPr/>
          </a:p>
        </p:txBody>
      </p:sp>
      <p:pic>
        <p:nvPicPr>
          <p:cNvPr descr="image.png" id="226" name="Google Shape;22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4310062"/>
            <a:ext cx="148976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8"/>
          <p:cNvSpPr txBox="1"/>
          <p:nvPr/>
        </p:nvSpPr>
        <p:spPr>
          <a:xfrm>
            <a:off x="983753" y="476250"/>
            <a:ext cx="11168583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Verificación Final del Entorno</a:t>
            </a:r>
            <a:endParaRPr/>
          </a:p>
        </p:txBody>
      </p:sp>
      <p:pic>
        <p:nvPicPr>
          <p:cNvPr id="228" name="Google Shape;22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54525" y="2133450"/>
            <a:ext cx="5841276" cy="376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